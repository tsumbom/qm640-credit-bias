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aleway"/>
      <p:regular r:id="rId17"/>
      <p:bold r:id="rId18"/>
      <p:italic r:id="rId19"/>
      <p:boldItalic r:id="rId20"/>
    </p:embeddedFont>
    <p:embeddedFont>
      <p:font typeface="Lato"/>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font" Target="fonts/Raleway-regular.fntdata"/><Relationship Id="rId18" Type="http://schemas.openxmlformats.org/officeDocument/2006/relationships/font" Target="fonts/Raleway-bold.fntdata"/><Relationship Id="rId19" Type="http://schemas.openxmlformats.org/officeDocument/2006/relationships/font" Target="fonts/Raleway-italic.fntdata"/><Relationship Id="rId20" Type="http://schemas.openxmlformats.org/officeDocument/2006/relationships/font" Target="fonts/Raleway-boldItalic.fntdata"/><Relationship Id="rId21" Type="http://schemas.openxmlformats.org/officeDocument/2006/relationships/font" Target="fonts/Lato-regular.fntdata"/><Relationship Id="rId22" Type="http://schemas.openxmlformats.org/officeDocument/2006/relationships/font" Target="fonts/Lato-bold.fntdata"/><Relationship Id="rId23" Type="http://schemas.openxmlformats.org/officeDocument/2006/relationships/font" Target="fonts/Lato-italic.fntdata"/><Relationship Id="rId24" Type="http://schemas.openxmlformats.org/officeDocument/2006/relationships/font" Target="fonts/La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7b453ca69b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7b453ca69b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Student name - 2 marks</a:t>
            </a:r>
            <a:endParaRPr/>
          </a:p>
          <a:p>
            <a:pPr indent="0" lvl="0" marL="0" rtl="0" algn="l">
              <a:spcBef>
                <a:spcPts val="0"/>
              </a:spcBef>
              <a:spcAft>
                <a:spcPts val="0"/>
              </a:spcAft>
              <a:buNone/>
            </a:pPr>
            <a:r>
              <a:rPr lang="en"/>
              <a:t>Mentor’s name - 2 marks</a:t>
            </a:r>
            <a:endParaRPr/>
          </a:p>
          <a:p>
            <a:pPr indent="0" lvl="0" marL="0" rtl="0" algn="l">
              <a:spcBef>
                <a:spcPts val="0"/>
              </a:spcBef>
              <a:spcAft>
                <a:spcPts val="0"/>
              </a:spcAft>
              <a:buNone/>
            </a:pPr>
            <a:r>
              <a:rPr lang="en"/>
              <a:t>Topic name - 2 marks </a:t>
            </a:r>
            <a:endParaRPr/>
          </a:p>
          <a:p>
            <a:pPr indent="0" lvl="0" marL="0" rtl="0" algn="l">
              <a:spcBef>
                <a:spcPts val="0"/>
              </a:spcBef>
              <a:spcAft>
                <a:spcPts val="0"/>
              </a:spcAft>
              <a:buNone/>
            </a:pPr>
            <a:r>
              <a:rPr lang="en"/>
              <a:t>-&gt; automated grading</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7b453ca6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7b453ca6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7b453ca69b_0_1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7b453ca69b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7b453ca69b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7b453ca69b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7b453ca69b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7b453ca69b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7b453ca69b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7b453ca69b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7b453ca69b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7b453ca69b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7b453ca69b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7b453ca69b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7b453ca69b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7b453ca69b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7b453ca69b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7b453ca69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7b453ca69b_0_2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7b453ca69b_0_2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lnSpc>
                <a:spcPct val="218181"/>
              </a:lnSpc>
              <a:spcBef>
                <a:spcPts val="1200"/>
              </a:spcBef>
              <a:spcAft>
                <a:spcPts val="0"/>
              </a:spcAft>
              <a:buNone/>
            </a:pPr>
            <a:r>
              <a:rPr b="1" sz="2800">
                <a:solidFill>
                  <a:srgbClr val="FFFFFF"/>
                </a:solidFill>
              </a:rPr>
              <a:t>Algorithmic Fairness in Mortgage Lending</a:t>
            </a:r>
            <a:endParaRPr sz="2300">
              <a:latin typeface="Times New Roman"/>
              <a:ea typeface="Times New Roman"/>
              <a:cs typeface="Times New Roman"/>
              <a:sym typeface="Times New Roman"/>
            </a:endParaRPr>
          </a:p>
          <a:p>
            <a:pPr algn="l">
              <a:spcBef>
                <a:spcPts val="600"/>
              </a:spcBef>
            </a:pPr>
            <a:r>
              <a:rPr b="0" sz="1800">
                <a:solidFill>
                  <a:srgbClr val="C8A951"/>
                </a:solidFill>
              </a:rPr>
              <a:t>A Multi-Year Analysis of HMDA Data (2022–2024)</a:t>
            </a:r>
          </a:p>
          <a:p>
            <a:pPr algn="l">
              <a:spcBef>
                <a:spcPts val="400"/>
              </a:spcBef>
            </a:pPr>
            <a:r>
              <a:rPr b="0" sz="1400">
                <a:solidFill>
                  <a:srgbClr val="FFFFFF"/>
                </a:solidFill>
              </a:rPr>
              <a:t>QM640 Data Analytics Capstone • Final Presentation</a:t>
            </a:r>
          </a:p>
        </p:txBody>
      </p:sp>
      <p:sp>
        <p:nvSpPr>
          <p:cNvPr id="87" name="Google Shape;87;p13"/>
          <p:cNvSpPr txBox="1"/>
          <p:nvPr>
            <p:ph idx="1" type="subTitle"/>
          </p:nvPr>
        </p:nvSpPr>
        <p:spPr>
          <a:xfrm>
            <a:off x="729450" y="3056825"/>
            <a:ext cx="8102700" cy="792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sz="1600">
                <a:solidFill>
                  <a:srgbClr val="FFFFFF"/>
                </a:solidFill>
              </a:rPr>
              <a:t>Tsumbo Munyai</a:t>
            </a:r>
            <a:endParaRPr sz="1800">
              <a:latin typeface="Times New Roman"/>
              <a:ea typeface="Times New Roman"/>
              <a:cs typeface="Times New Roman"/>
              <a:sym typeface="Times New Roman"/>
            </a:endParaRPr>
          </a:p>
          <a:p>
            <a:pPr algn="l">
              <a:spcBef>
                <a:spcPts val="400"/>
              </a:spcBef>
            </a:pPr>
            <a:r>
              <a:rPr b="0" sz="1300">
                <a:solidFill>
                  <a:srgbClr val="C8A951"/>
                </a:solidFill>
              </a:rPr>
              <a:t>Mentor: [Mentor's Name]</a:t>
            </a:r>
          </a:p>
          <a:p>
            <a:pPr algn="l">
              <a:spcBef>
                <a:spcPts val="200"/>
              </a:spcBef>
            </a:pPr>
            <a:r>
              <a:rPr b="0" sz="1200">
                <a:solidFill>
                  <a:srgbClr val="FFFFFF"/>
                </a:solidFill>
              </a:rPr>
              <a:t>Walsh College • Department of Business Analytics</a:t>
            </a:r>
          </a:p>
          <a:p>
            <a:pPr algn="l">
              <a:spcBef>
                <a:spcPts val="200"/>
              </a:spcBef>
            </a:pPr>
            <a:r>
              <a:rPr b="0" sz="1200">
                <a:solidFill>
                  <a:srgbClr val="FFFFFF"/>
                </a:solidFill>
              </a:rPr>
              <a:t>May 2026</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sz="2400">
                <a:solidFill>
                  <a:srgbClr val="FFFFFF"/>
                </a:solidFill>
              </a:rPr>
              <a:t>Executive Summary</a:t>
            </a:r>
            <a:endParaRPr/>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400">
                <a:solidFill>
                  <a:srgbClr val="C8A951"/>
                </a:solidFill>
              </a:rPr>
              <a:t>Five Key Findings That Demand Regulatory Attention</a:t>
            </a:r>
            <a:endParaRPr/>
          </a:p>
          <a:p>
            <a:pPr>
              <a:spcBef>
                <a:spcPts val="800"/>
              </a:spcBef>
            </a:pPr>
            <a:r>
              <a:rPr b="0" sz="1100"/>
              <a:t/>
            </a:r>
            <a:r>
              <a:rPr b="1" sz="1100">
                <a:solidFill>
                  <a:srgbClr val="C8A951"/>
                </a:solidFill>
              </a:rPr>
              <a:t>•  Scope &amp; Scale: </a:t>
            </a:r>
            <a:r>
              <a:rPr b="0" sz="1100">
                <a:solidFill>
                  <a:srgbClr val="FFFFFF"/>
                </a:solidFill>
              </a:rPr>
              <a:t>10.4 million HMDA records (2022–2024) analyzed across 3 years; 120,000-record clean analytical sample per year using stratified random sampling with 100% statistical power.</a:t>
            </a:r>
          </a:p>
          <a:p>
            <a:pPr>
              <a:spcBef>
                <a:spcPts val="800"/>
              </a:spcBef>
            </a:pPr>
            <a:r>
              <a:rPr b="0" sz="1100"/>
              <a:t/>
            </a:r>
            <a:r>
              <a:rPr b="1" sz="1100">
                <a:solidFill>
                  <a:srgbClr val="C8A951"/>
                </a:solidFill>
              </a:rPr>
              <a:t>•  Model Performance: </a:t>
            </a:r>
            <a:r>
              <a:rPr b="0" sz="1100">
                <a:solidFill>
                  <a:srgbClr val="FFFFFF"/>
                </a:solidFill>
              </a:rPr>
              <a:t>XGBoost significantly outperforms Linear Regression (RMSE: 0.8339 vs. 1.0669; R²: 0.52 vs. 0.22). Five-fold cross-validation (CV-RMSE: 0.9124) confirms generalizability.</a:t>
            </a:r>
          </a:p>
          <a:p>
            <a:pPr>
              <a:spcBef>
                <a:spcPts val="800"/>
              </a:spcBef>
            </a:pPr>
            <a:r>
              <a:rPr b="0" sz="1100"/>
              <a:t/>
            </a:r>
            <a:r>
              <a:rPr b="1" sz="1100">
                <a:solidFill>
                  <a:srgbClr val="C8A951"/>
                </a:solidFill>
              </a:rPr>
              <a:t>•  Gender Bias: </a:t>
            </a:r>
            <a:r>
              <a:rPr b="0" sz="1100">
                <a:solidFill>
                  <a:srgbClr val="FFFFFF"/>
                </a:solidFill>
              </a:rPr>
              <a:t>Both models show statistically significant gender error distribution differences (XGB KS p=0.0068). Practical effect size is negligible (Cohen’s d=−0.0033), indicating statistical but not economically material bias.</a:t>
            </a:r>
          </a:p>
          <a:p>
            <a:pPr>
              <a:spcBef>
                <a:spcPts val="800"/>
              </a:spcBef>
            </a:pPr>
            <a:r>
              <a:rPr b="0" sz="1100"/>
              <a:t/>
            </a:r>
            <a:r>
              <a:rPr b="1" sz="1100">
                <a:solidFill>
                  <a:srgbClr val="C8A951"/>
                </a:solidFill>
              </a:rPr>
              <a:t>•  Location Bias by Loan Type: </a:t>
            </a:r>
            <a:r>
              <a:rPr b="0" sz="1100">
                <a:solidFill>
                  <a:srgbClr val="FFFFFF"/>
                </a:solidFill>
              </a:rPr>
              <a:t>FHA-insured loans show the highest rural penalty (DI=1.07, Cohen’s d=0.21). VA-guaranteed loans also show bias (DI=1.04). Conventional loans show a reverse pattern (DI=0.95).</a:t>
            </a:r>
          </a:p>
          <a:p>
            <a:pPr>
              <a:spcBef>
                <a:spcPts val="800"/>
              </a:spcBef>
            </a:pPr>
            <a:r>
              <a:rPr b="0" sz="1100"/>
              <a:t/>
            </a:r>
            <a:r>
              <a:rPr b="1" sz="1100">
                <a:solidFill>
                  <a:srgbClr val="C8A951"/>
                </a:solidFill>
              </a:rPr>
              <a:t>•  Intersectional Compounding: </a:t>
            </a:r>
            <a:r>
              <a:rPr b="0" sz="1100">
                <a:solidFill>
                  <a:srgbClr val="FFFFFF"/>
                </a:solidFill>
              </a:rPr>
              <a:t>Rural female applicants face a compounding penalty of +0.013% above the additive sum of being rural AND female (p=0.008). This translates to approximately $700 in additional interest on a $250,000 mortgage over the loan term.</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sz="2400">
                <a:solidFill>
                  <a:srgbClr val="FFFFFF"/>
                </a:solidFill>
              </a:rPr>
              <a:t>Gap Analysis</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sz="1400">
                <a:solidFill>
                  <a:srgbClr val="C8A951"/>
                </a:solidFill>
              </a:rPr>
              <a:t>Three Critical Gaps This Research Fills</a:t>
            </a:r>
            <a:endParaRPr/>
          </a:p>
          <a:p>
            <a:pPr>
              <a:spcBef>
                <a:spcPts val="1000"/>
              </a:spcBef>
            </a:pPr>
            <a:r>
              <a:rPr b="0" sz="1100"/>
              <a:t/>
            </a:r>
            <a:r>
              <a:rPr b="1" sz="1100">
                <a:solidFill>
                  <a:srgbClr val="C8A951"/>
                </a:solidFill>
              </a:rPr>
              <a:t>▶  Gap 1 — Temporal Blindness: </a:t>
            </a:r>
            <a:r>
              <a:rPr b="0" sz="1000">
                <a:solidFill>
                  <a:srgbClr val="FFFFFF"/>
                </a:solidFill>
              </a:rPr>
              <a:t>Prior studies use single-year snapshots, making it impossible to distinguish structural bias from cyclical economic effects. This study introduces the Temporal Intersectional Bias Amplification Index (TIBAI) to track bias evolution across economic cycles. Finding: DI worsened from 0.9967 (2022) to 0.9591 (2023) before partially recovering to 0.9701 (2024), coinciding with the 2023 interest rate shock.</a:t>
            </a:r>
          </a:p>
          <a:p>
            <a:pPr>
              <a:spcBef>
                <a:spcPts val="1000"/>
              </a:spcBef>
            </a:pPr>
            <a:r>
              <a:rPr b="0" sz="1100"/>
              <a:t/>
            </a:r>
            <a:r>
              <a:rPr b="1" sz="1100">
                <a:solidFill>
                  <a:srgbClr val="C8A951"/>
                </a:solidFill>
              </a:rPr>
              <a:t>▶  Gap 2 — Binary Focus: </a:t>
            </a:r>
            <a:r>
              <a:rPr b="0" sz="1000">
                <a:solidFill>
                  <a:srgbClr val="FFFFFF"/>
                </a:solidFill>
              </a:rPr>
              <a:t>Most fairness research examines loan approvals (binary outcome). This study analyzes continuous rate spreads, revealing asymmetric error distributions that binary analysis misses. The Differential Residual Skewness Index (DRSI) quantifies this asymmetry: LR DRSI=0.1242 vs. XGB DRSI=0.0286, confirming XGBoost produces more symmetric errors across demographic groups.</a:t>
            </a:r>
          </a:p>
          <a:p>
            <a:pPr>
              <a:spcBef>
                <a:spcPts val="1000"/>
              </a:spcBef>
            </a:pPr>
            <a:r>
              <a:rPr b="0" sz="1100"/>
              <a:t/>
            </a:r>
            <a:r>
              <a:rPr b="1" sz="1100">
                <a:solidFill>
                  <a:srgbClr val="C8A951"/>
                </a:solidFill>
              </a:rPr>
              <a:t>▶  Gap 3 — Unquantified Proxy Leakage: </a:t>
            </a:r>
            <a:r>
              <a:rPr b="0" sz="1000">
                <a:solidFill>
                  <a:srgbClr val="FFFFFF"/>
                </a:solidFill>
              </a:rPr>
              <a:t>While proxy variables are widely discussed in fairness literature, they are rarely measured. The Proxy Leakage Sensitivity Score (PLSS) quantifies exact leakage: sex=0.33%, location=0.36%. These values are statistically non-zero but practically small, suggesting the models do not heavily rely on sensitive features as proxies.</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sz="2400">
                <a:solidFill>
                  <a:srgbClr val="FFFFFF"/>
                </a:solidFill>
              </a:rPr>
              <a:t>Research Questions</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sz="1300">
                <a:solidFill>
                  <a:srgbClr val="C8A951"/>
                </a:solidFill>
              </a:rPr>
              <a:t>Six Hypotheses Tested with Real HMDA Data (2022–2024)</a:t>
            </a:r>
            <a:endParaRPr/>
          </a:p>
          <a:p>
            <a:pPr>
              <a:spcBef>
                <a:spcPts val="600"/>
              </a:spcBef>
            </a:pPr>
            <a:r>
              <a:rPr b="0" sz="1000"/>
              <a:t/>
            </a:r>
            <a:r>
              <a:rPr b="1" sz="1100">
                <a:solidFill>
                  <a:srgbClr val="C8A951"/>
                </a:solidFill>
              </a:rPr>
              <a:t>RQ1: </a:t>
            </a:r>
            <a:r>
              <a:rPr b="1" sz="1000">
                <a:solidFill>
                  <a:srgbClr val="FFFFFF"/>
                </a:solidFill>
              </a:rPr>
              <a:t>Do prediction error distributions differ by gender?</a:t>
            </a:r>
          </a:p>
          <a:p>
            <a:pPr>
              <a:spcBef>
                <a:spcPts val="100"/>
              </a:spcBef>
            </a:pPr>
            <a:r>
              <a:rPr b="0" sz="900">
                <a:solidFill>
                  <a:srgbClr val="CCCCCC"/>
                </a:solidFill>
              </a:rPr>
              <a:t>     H₀: No difference | H₁: Significant difference  |  Method: KS Test + Mann-Whitney U</a:t>
            </a:r>
          </a:p>
          <a:p>
            <a:pPr>
              <a:spcBef>
                <a:spcPts val="100"/>
              </a:spcBef>
            </a:pPr>
            <a:r>
              <a:rPr b="0" sz="900">
                <a:solidFill>
                  <a:srgbClr val="C8A951"/>
                </a:solidFill>
              </a:rPr>
              <a:t>     Decision: REJECT H₀ (KS p=0.0068, d=−0.0033 negligible)</a:t>
            </a:r>
          </a:p>
          <a:p>
            <a:pPr>
              <a:spcBef>
                <a:spcPts val="600"/>
              </a:spcBef>
            </a:pPr>
            <a:r>
              <a:rPr b="0" sz="1000"/>
              <a:t/>
            </a:r>
            <a:r>
              <a:rPr b="1" sz="1100">
                <a:solidFill>
                  <a:srgbClr val="C8A951"/>
                </a:solidFill>
              </a:rPr>
              <a:t>RQ2: </a:t>
            </a:r>
            <a:r>
              <a:rPr b="1" sz="1000">
                <a:solidFill>
                  <a:srgbClr val="FFFFFF"/>
                </a:solidFill>
              </a:rPr>
              <a:t>Does location bias vary by loan type?</a:t>
            </a:r>
          </a:p>
          <a:p>
            <a:pPr>
              <a:spcBef>
                <a:spcPts val="100"/>
              </a:spcBef>
            </a:pPr>
            <a:r>
              <a:rPr b="0" sz="900">
                <a:solidFill>
                  <a:srgbClr val="CCCCCC"/>
                </a:solidFill>
              </a:rPr>
              <a:t>     H₀: No variation | H₁: Loan type moderates location bias  |  Method: Mann-Whitney U by loan type</a:t>
            </a:r>
          </a:p>
          <a:p>
            <a:pPr>
              <a:spcBef>
                <a:spcPts val="100"/>
              </a:spcBef>
            </a:pPr>
            <a:r>
              <a:rPr b="0" sz="900">
                <a:solidFill>
                  <a:srgbClr val="C8A951"/>
                </a:solidFill>
              </a:rPr>
              <a:t>     Decision: REJECT H₀ (FHA DI=1.07, d=0.21 small effect)</a:t>
            </a:r>
          </a:p>
          <a:p>
            <a:pPr>
              <a:spcBef>
                <a:spcPts val="600"/>
              </a:spcBef>
            </a:pPr>
            <a:r>
              <a:rPr b="0" sz="1000"/>
              <a:t/>
            </a:r>
            <a:r>
              <a:rPr b="1" sz="1100">
                <a:solidFill>
                  <a:srgbClr val="C8A951"/>
                </a:solidFill>
              </a:rPr>
              <a:t>RQ3: </a:t>
            </a:r>
            <a:r>
              <a:rPr b="1" sz="1000">
                <a:solidFill>
                  <a:srgbClr val="FFFFFF"/>
                </a:solidFill>
              </a:rPr>
              <a:t>Do sensitive features act as proxy predictors?</a:t>
            </a:r>
          </a:p>
          <a:p>
            <a:pPr>
              <a:spcBef>
                <a:spcPts val="100"/>
              </a:spcBef>
            </a:pPr>
            <a:r>
              <a:rPr b="0" sz="900">
                <a:solidFill>
                  <a:srgbClr val="CCCCCC"/>
                </a:solidFill>
              </a:rPr>
              <a:t>     H₀: PLSS=0 | H₁: PLSS&gt;0  |  Method: Permutation PLSS</a:t>
            </a:r>
          </a:p>
          <a:p>
            <a:pPr>
              <a:spcBef>
                <a:spcPts val="100"/>
              </a:spcBef>
            </a:pPr>
            <a:r>
              <a:rPr b="0" sz="900">
                <a:solidFill>
                  <a:srgbClr val="C8A951"/>
                </a:solidFill>
              </a:rPr>
              <a:t>     Decision: FAIL TO REJECT H₀ (sex=0.33%, location=0.36%; small)</a:t>
            </a:r>
          </a:p>
          <a:p>
            <a:pPr>
              <a:spcBef>
                <a:spcPts val="600"/>
              </a:spcBef>
            </a:pPr>
            <a:r>
              <a:rPr b="0" sz="1000"/>
              <a:t/>
            </a:r>
            <a:r>
              <a:rPr b="1" sz="1100">
                <a:solidFill>
                  <a:srgbClr val="C8A951"/>
                </a:solidFill>
              </a:rPr>
              <a:t>RQ4: </a:t>
            </a:r>
            <a:r>
              <a:rPr b="1" sz="1000">
                <a:solidFill>
                  <a:srgbClr val="FFFFFF"/>
                </a:solidFill>
              </a:rPr>
              <a:t>Does a Pareto-optimal accuracy-fairness model exist?</a:t>
            </a:r>
          </a:p>
          <a:p>
            <a:pPr>
              <a:spcBef>
                <a:spcPts val="100"/>
              </a:spcBef>
            </a:pPr>
            <a:r>
              <a:rPr b="0" sz="900">
                <a:solidFill>
                  <a:srgbClr val="CCCCCC"/>
                </a:solidFill>
              </a:rPr>
              <a:t>     H₀: No Pareto-optimal model | H₁: One exists  |  Method: RMSE vs. DI Pareto frontier</a:t>
            </a:r>
          </a:p>
          <a:p>
            <a:pPr>
              <a:spcBef>
                <a:spcPts val="100"/>
              </a:spcBef>
            </a:pPr>
            <a:r>
              <a:rPr b="0" sz="900">
                <a:solidFill>
                  <a:srgbClr val="C8A951"/>
                </a:solidFill>
              </a:rPr>
              <a:t>     Decision: REJECT H₀ (XGB depth=8: RMSE=0.7929, DI=1.0023)</a:t>
            </a:r>
          </a:p>
          <a:p>
            <a:pPr>
              <a:spcBef>
                <a:spcPts val="600"/>
              </a:spcBef>
            </a:pPr>
            <a:r>
              <a:rPr b="0" sz="1000"/>
              <a:t/>
            </a:r>
            <a:r>
              <a:rPr b="1" sz="1100">
                <a:solidFill>
                  <a:srgbClr val="C8A951"/>
                </a:solidFill>
              </a:rPr>
              <a:t>RQ5: </a:t>
            </a:r>
            <a:r>
              <a:rPr b="1" sz="1000">
                <a:solidFill>
                  <a:srgbClr val="FFFFFF"/>
                </a:solidFill>
              </a:rPr>
              <a:t>Do rural female applicants face intersectional compounding?</a:t>
            </a:r>
          </a:p>
          <a:p>
            <a:pPr>
              <a:spcBef>
                <a:spcPts val="100"/>
              </a:spcBef>
            </a:pPr>
            <a:r>
              <a:rPr b="0" sz="900">
                <a:solidFill>
                  <a:srgbClr val="CCCCCC"/>
                </a:solidFill>
              </a:rPr>
              <a:t>     H₀: No compounding | H₁: Compound &gt; additive sum  |  Method: Mann-Whitney U + decomposition</a:t>
            </a:r>
          </a:p>
          <a:p>
            <a:pPr>
              <a:spcBef>
                <a:spcPts val="100"/>
              </a:spcBef>
            </a:pPr>
            <a:r>
              <a:rPr b="0" sz="900">
                <a:solidFill>
                  <a:srgbClr val="C8A951"/>
                </a:solidFill>
              </a:rPr>
              <a:t>     Decision: REJECT H₀ (Compound=+0.013%, p=0.008)</a:t>
            </a:r>
          </a:p>
          <a:p>
            <a:pPr>
              <a:spcBef>
                <a:spcPts val="600"/>
              </a:spcBef>
            </a:pPr>
            <a:r>
              <a:rPr b="0" sz="1000"/>
              <a:t/>
            </a:r>
            <a:r>
              <a:rPr b="1" sz="1100">
                <a:solidFill>
                  <a:srgbClr val="C8A951"/>
                </a:solidFill>
              </a:rPr>
              <a:t>RQ6: </a:t>
            </a:r>
            <a:r>
              <a:rPr b="1" sz="1000">
                <a:solidFill>
                  <a:srgbClr val="FFFFFF"/>
                </a:solidFill>
              </a:rPr>
              <a:t>Is there a temporal trend in TIBAI across 2022–2024?</a:t>
            </a:r>
          </a:p>
          <a:p>
            <a:pPr>
              <a:spcBef>
                <a:spcPts val="100"/>
              </a:spcBef>
            </a:pPr>
            <a:r>
              <a:rPr b="0" sz="900">
                <a:solidFill>
                  <a:srgbClr val="CCCCCC"/>
                </a:solidFill>
              </a:rPr>
              <a:t>     H₀: No trend | H₁: Significant trend  |  Method: Kendall tau trend test</a:t>
            </a:r>
          </a:p>
          <a:p>
            <a:pPr>
              <a:spcBef>
                <a:spcPts val="100"/>
              </a:spcBef>
            </a:pPr>
            <a:r>
              <a:rPr b="0" sz="900">
                <a:solidFill>
                  <a:srgbClr val="C8A951"/>
                </a:solidFill>
              </a:rPr>
              <a:t>     Decision: FAIL TO REJECT H₀ (τ=−0.333, p=0.816; 3 years insufficient)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sz="2400">
                <a:solidFill>
                  <a:srgbClr val="FFFFFF"/>
                </a:solidFill>
              </a:rPr>
              <a:t>Data Description and EDA</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200">
                <a:solidFill>
                  <a:srgbClr val="C8A951"/>
                </a:solidFill>
              </a:rPr>
              <a:t>FFIEC HMDA LAR 2022–2024 | 10.4 Million Raw Records | 360,000 Clean Analytical Records</a:t>
            </a:r>
            <a:endParaRPr/>
          </a:p>
          <a:p>
            <a:pPr>
              <a:spcBef>
                <a:spcPts val="500"/>
              </a:spcBef>
            </a:pPr>
            <a:r>
              <a:rPr b="0" sz="1000"/>
              <a:t/>
            </a:r>
            <a:r>
              <a:rPr b="1" sz="1000">
                <a:solidFill>
                  <a:srgbClr val="C8A951"/>
                </a:solidFill>
              </a:rPr>
              <a:t>•  Source: </a:t>
            </a:r>
            <a:r>
              <a:rPr b="0" sz="1000">
                <a:solidFill>
                  <a:srgbClr val="FFFFFF"/>
                </a:solidFill>
              </a:rPr>
              <a:t>Federal Financial Institutions Examination Council (FFIEC) Home Mortgage Disclosure Act (HMDA) Loan Application Register (LAR). Publicly available at ffiec.cfpb.gov.</a:t>
            </a:r>
          </a:p>
          <a:p>
            <a:pPr>
              <a:spcBef>
                <a:spcPts val="500"/>
              </a:spcBef>
            </a:pPr>
            <a:r>
              <a:rPr b="0" sz="1000"/>
              <a:t/>
            </a:r>
            <a:r>
              <a:rPr b="1" sz="1000">
                <a:solidFill>
                  <a:srgbClr val="C8A951"/>
                </a:solidFill>
              </a:rPr>
              <a:t>•  Records: </a:t>
            </a:r>
            <a:r>
              <a:rPr b="0" sz="1000">
                <a:solidFill>
                  <a:srgbClr val="FFFFFF"/>
                </a:solidFill>
              </a:rPr>
              <a:t>2022: 16.1M raw → 694,816 clean | 2023: 11.5M raw → 774,372 clean | 2024: 12.8M raw → 978,185 clean. 45% excluded due to missing rate spread (non-originated loans).</a:t>
            </a:r>
          </a:p>
          <a:p>
            <a:pPr>
              <a:spcBef>
                <a:spcPts val="500"/>
              </a:spcBef>
            </a:pPr>
            <a:r>
              <a:rPr b="0" sz="1000"/>
              <a:t/>
            </a:r>
            <a:r>
              <a:rPr b="1" sz="1000">
                <a:solidFill>
                  <a:srgbClr val="C8A951"/>
                </a:solidFill>
              </a:rPr>
              <a:t>•  Target Variable: </a:t>
            </a:r>
            <a:r>
              <a:rPr b="0" sz="1000">
                <a:solidFill>
                  <a:srgbClr val="FFFFFF"/>
                </a:solidFill>
              </a:rPr>
              <a:t>Rate Spread (%): The difference between the Annual Percentage Rate (APR) and the Average Prime Offer Rate (APOR). Higher values indicate more expensive credit.</a:t>
            </a:r>
          </a:p>
          <a:p>
            <a:pPr>
              <a:spcBef>
                <a:spcPts val="500"/>
              </a:spcBef>
            </a:pPr>
            <a:r>
              <a:rPr b="0" sz="1000"/>
              <a:t/>
            </a:r>
            <a:r>
              <a:rPr b="1" sz="1000">
                <a:solidFill>
                  <a:srgbClr val="C8A951"/>
                </a:solidFill>
              </a:rPr>
              <a:t>•  Features: </a:t>
            </a:r>
            <a:r>
              <a:rPr b="0" sz="1000">
                <a:solidFill>
                  <a:srgbClr val="FFFFFF"/>
                </a:solidFill>
              </a:rPr>
              <a:t>8 predictors: Loan Amount, Income, LTV Ratio, DTI Ratio, Loan Type, Lien Status, Sex (sensitive), Location (sensitive). VIF &lt; 5.0 confirms no multicollinearity.</a:t>
            </a:r>
          </a:p>
          <a:p>
            <a:pPr>
              <a:spcBef>
                <a:spcPts val="500"/>
              </a:spcBef>
            </a:pPr>
            <a:r>
              <a:rPr b="0" sz="1000"/>
              <a:t/>
            </a:r>
            <a:r>
              <a:rPr b="1" sz="1000">
                <a:solidFill>
                  <a:srgbClr val="C8A951"/>
                </a:solidFill>
              </a:rPr>
              <a:t>•  Key EDA Findings: </a:t>
            </a:r>
            <a:r>
              <a:rPr b="0" sz="1000">
                <a:solidFill>
                  <a:srgbClr val="FFFFFF"/>
                </a:solidFill>
              </a:rPr>
              <a:t>Rural applicants: +0.089% rate spread penalty. Female applicants: +0.012% penalty. FHA loans show widest rural-urban gap. Fairness worsened in 2023 (interest rate shock), partially recovered in 2024.</a:t>
            </a:r>
          </a:p>
          <a:p>
            <a:pPr>
              <a:spcBef>
                <a:spcPts val="500"/>
              </a:spcBef>
            </a:pPr>
            <a:r>
              <a:rPr b="0" sz="1000"/>
              <a:t/>
            </a:r>
            <a:r>
              <a:rPr b="1" sz="1000">
                <a:solidFill>
                  <a:srgbClr val="C8A951"/>
                </a:solidFill>
              </a:rPr>
              <a:t>•  Statistical Power: </a:t>
            </a:r>
            <a:r>
              <a:rPr b="0" sz="1000">
                <a:solidFill>
                  <a:srgbClr val="FFFFFF"/>
                </a:solidFill>
              </a:rPr>
              <a:t>Formal power analysis: minimum n=10,500 for d=0.05 at α=0.05, power=0.95. With n=120,000/year, achieved power = 100%.</a:t>
            </a:r>
          </a:p>
        </p:txBody>
      </p:sp>
      <p:pic>
        <p:nvPicPr>
          <p:cNvPr id="112" name="Picture 111" descr="fig01_eda_distributions.png"/>
          <p:cNvPicPr>
            <a:picLocks noChangeAspect="1"/>
          </p:cNvPicPr>
          <p:nvPr/>
        </p:nvPicPr>
        <p:blipFill>
          <a:blip r:embed="rId3"/>
          <a:stretch>
            <a:fillRect/>
          </a:stretch>
        </p:blipFill>
        <p:spPr>
          <a:xfrm>
            <a:off x="457200" y="3840480"/>
            <a:ext cx="8229600" cy="25603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just">
              <a:lnSpc>
                <a:spcPct val="150000"/>
              </a:lnSpc>
              <a:spcBef>
                <a:spcPts val="0"/>
              </a:spcBef>
              <a:spcAft>
                <a:spcPts val="0"/>
              </a:spcAft>
              <a:buNone/>
            </a:pPr>
            <a:r>
              <a:rPr b="1" sz="2400">
                <a:solidFill>
                  <a:srgbClr val="FFFFFF"/>
                </a:solidFill>
              </a:rPr>
              <a:t>Architecture Diagram / Workflow</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200">
                <a:solidFill>
                  <a:srgbClr val="C8A951"/>
                </a:solidFill>
              </a:rPr>
              <a:t>Eight-Stage Reproducible Pipeline: From Raw HMDA Data to Fairness Insights</a:t>
            </a:r>
            <a:endParaRPr/>
          </a:p>
          <a:p>
            <a:pPr>
              <a:spcBef>
                <a:spcPts val="600"/>
              </a:spcBef>
            </a:pPr>
            <a:r>
              <a:rPr b="0" sz="1100"/>
              <a:t/>
            </a:r>
            <a:r>
              <a:rPr b="1" sz="1100">
                <a:solidFill>
                  <a:srgbClr val="FFFFFF"/>
                </a:solidFill>
              </a:rPr>
              <a:t>▶  1. Data Ingestion</a:t>
            </a:r>
          </a:p>
          <a:p>
            <a:pPr>
              <a:spcBef>
                <a:spcPts val="200"/>
              </a:spcBef>
            </a:pPr>
            <a:r>
              <a:rPr b="0" sz="1100"/>
              <a:t/>
            </a:r>
            <a:r>
              <a:rPr b="0" sz="1100">
                <a:solidFill>
                  <a:srgbClr val="FFFFFF"/>
                </a:solidFill>
              </a:rPr>
              <a:t>▶  2. Cleaning &amp; Feature Engineering</a:t>
            </a:r>
          </a:p>
          <a:p>
            <a:pPr>
              <a:spcBef>
                <a:spcPts val="200"/>
              </a:spcBef>
            </a:pPr>
            <a:r>
              <a:rPr b="0" sz="1100"/>
              <a:t/>
            </a:r>
            <a:r>
              <a:rPr b="0" sz="1100">
                <a:solidFill>
                  <a:srgbClr val="FFFFFF"/>
                </a:solidFill>
              </a:rPr>
              <a:t>▶  3. Exploratory Data Analysis</a:t>
            </a:r>
          </a:p>
          <a:p>
            <a:pPr>
              <a:spcBef>
                <a:spcPts val="200"/>
              </a:spcBef>
            </a:pPr>
            <a:r>
              <a:rPr b="0" sz="1100"/>
              <a:t/>
            </a:r>
            <a:r>
              <a:rPr b="0" sz="1100">
                <a:solidFill>
                  <a:srgbClr val="FFFFFF"/>
                </a:solidFill>
              </a:rPr>
              <a:t>▶  4. Model Training (LR &amp; XGBoost)</a:t>
            </a:r>
          </a:p>
          <a:p>
            <a:pPr>
              <a:spcBef>
                <a:spcPts val="200"/>
              </a:spcBef>
            </a:pPr>
            <a:r>
              <a:rPr b="0" sz="1100"/>
              <a:t/>
            </a:r>
            <a:r>
              <a:rPr b="0" sz="1100">
                <a:solidFill>
                  <a:srgbClr val="FFFFFF"/>
                </a:solidFill>
              </a:rPr>
              <a:t>▶  5. Fairness Evaluation (DI, DPD)</a:t>
            </a:r>
          </a:p>
          <a:p>
            <a:pPr>
              <a:spcBef>
                <a:spcPts val="200"/>
              </a:spcBef>
            </a:pPr>
            <a:r>
              <a:rPr b="0" sz="1100"/>
              <a:t/>
            </a:r>
            <a:r>
              <a:rPr b="1" sz="1100">
                <a:solidFill>
                  <a:srgbClr val="C8A951"/>
                </a:solidFill>
              </a:rPr>
              <a:t>▶  6. Novel Metrics (TIBAI, PLSS, DRSI)</a:t>
            </a:r>
          </a:p>
          <a:p>
            <a:pPr>
              <a:spcBef>
                <a:spcPts val="200"/>
              </a:spcBef>
            </a:pPr>
            <a:r>
              <a:rPr b="0" sz="1100"/>
              <a:t/>
            </a:r>
            <a:r>
              <a:rPr b="1" sz="1100">
                <a:solidFill>
                  <a:srgbClr val="C8A951"/>
                </a:solidFill>
              </a:rPr>
              <a:t>▶  7. Pareto Optimisation</a:t>
            </a:r>
          </a:p>
          <a:p>
            <a:pPr>
              <a:spcBef>
                <a:spcPts val="200"/>
              </a:spcBef>
            </a:pPr>
            <a:r>
              <a:rPr b="0" sz="1100"/>
              <a:t/>
            </a:r>
            <a:r>
              <a:rPr b="0" sz="1100">
                <a:solidFill>
                  <a:srgbClr val="FFFFFF"/>
                </a:solidFill>
              </a:rPr>
              <a:t>▶  8. Reporting &amp; Visualisation</a:t>
            </a:r>
          </a:p>
          <a:p>
            <a:pPr>
              <a:spcBef>
                <a:spcPts val="800"/>
              </a:spcBef>
            </a:pPr>
            <a:r>
              <a:rPr b="0" sz="1000"/>
              <a:t/>
            </a:r>
          </a:p>
          <a:p>
            <a:pPr>
              <a:spcBef>
                <a:spcPts val="0"/>
              </a:spcBef>
            </a:pPr>
            <a:r>
              <a:rPr b="1" sz="1000">
                <a:solidFill>
                  <a:srgbClr val="C8A951"/>
                </a:solidFill>
              </a:rPr>
              <a:t>Technology Stack: </a:t>
            </a:r>
            <a:r>
              <a:rPr sz="1000">
                <a:solidFill>
                  <a:srgbClr val="FFFFFF"/>
                </a:solidFill>
              </a:rPr>
              <a:t>Python 3.11  |  XGBoost 2.0  |  scikit-learn  |  SciPy  |  pandas  |  matplotlib  |  seaborn  |  python-docx</a:t>
            </a:r>
          </a:p>
        </p:txBody>
      </p:sp>
      <p:pic>
        <p:nvPicPr>
          <p:cNvPr id="118" name="Picture 117" descr="fig02_temporal_trends.png"/>
          <p:cNvPicPr>
            <a:picLocks noChangeAspect="1"/>
          </p:cNvPicPr>
          <p:nvPr/>
        </p:nvPicPr>
        <p:blipFill>
          <a:blip r:embed="rId3"/>
          <a:stretch>
            <a:fillRect/>
          </a:stretch>
        </p:blipFill>
        <p:spPr>
          <a:xfrm>
            <a:off x="457200" y="3931920"/>
            <a:ext cx="8229600" cy="24688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sz="2400">
                <a:solidFill>
                  <a:srgbClr val="FFFFFF"/>
                </a:solidFill>
              </a:rPr>
              <a:t>Model Building</a:t>
            </a:r>
            <a:endParaRPr/>
          </a:p>
        </p:txBody>
      </p:sp>
      <p:sp>
        <p:nvSpPr>
          <p:cNvPr id="123" name="Google Shape;123;p19"/>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200">
                <a:solidFill>
                  <a:srgbClr val="C8A951"/>
                </a:solidFill>
              </a:rPr>
              <a:t>XGBoost Captures 52% of Rate Spread Variance vs. 22% for Linear Regression</a:t>
            </a:r>
            <a:endParaRPr/>
          </a:p>
          <a:p>
            <a:pPr>
              <a:spcBef>
                <a:spcPts val="600"/>
              </a:spcBef>
            </a:pPr>
            <a:r>
              <a:rPr b="0" sz="1000"/>
              <a:t/>
            </a:r>
            <a:r>
              <a:rPr b="1" sz="1000">
                <a:solidFill>
                  <a:srgbClr val="C8A951"/>
                </a:solidFill>
              </a:rPr>
              <a:t>•  Models: </a:t>
            </a:r>
            <a:r>
              <a:rPr b="0" sz="1000">
                <a:solidFill>
                  <a:srgbClr val="FFFFFF"/>
                </a:solidFill>
              </a:rPr>
              <a:t>Baseline: Ordinary Least Squares Linear Regression. Primary: XGBoost (Extreme Gradient Boosting) with depth search over {4, 6, 8}.</a:t>
            </a:r>
          </a:p>
          <a:p>
            <a:pPr>
              <a:spcBef>
                <a:spcPts val="600"/>
              </a:spcBef>
            </a:pPr>
            <a:r>
              <a:rPr b="0" sz="1000"/>
              <a:t/>
            </a:r>
            <a:r>
              <a:rPr b="1" sz="1000">
                <a:solidFill>
                  <a:srgbClr val="C8A951"/>
                </a:solidFill>
              </a:rPr>
              <a:t>•  Validation: </a:t>
            </a:r>
            <a:r>
              <a:rPr b="0" sz="1000">
                <a:solidFill>
                  <a:srgbClr val="FFFFFF"/>
                </a:solidFill>
              </a:rPr>
              <a:t>5-fold cross-validation on 2024 data. LR CV-RMSE=1.0670 (±0.0021). XGB CV-RMSE=0.9124 (±0.0053). Confirms generalizability with no overfitting.</a:t>
            </a:r>
          </a:p>
          <a:p>
            <a:pPr>
              <a:spcBef>
                <a:spcPts val="600"/>
              </a:spcBef>
            </a:pPr>
            <a:r>
              <a:rPr b="0" sz="1000"/>
              <a:t/>
            </a:r>
            <a:r>
              <a:rPr b="1" sz="1000">
                <a:solidFill>
                  <a:srgbClr val="C8A951"/>
                </a:solidFill>
              </a:rPr>
              <a:t>•  Regularisation: </a:t>
            </a:r>
            <a:r>
              <a:rPr b="0" sz="1000">
                <a:solidFill>
                  <a:srgbClr val="FFFFFF"/>
                </a:solidFill>
              </a:rPr>
              <a:t>XGBoost: L2 penalty (lambda=1.0), subsampling=0.9, column sampling=0.9, learning rate=0.1. Prevents overfitting on sensitive feature patterns.</a:t>
            </a:r>
          </a:p>
          <a:p>
            <a:pPr>
              <a:spcBef>
                <a:spcPts val="600"/>
              </a:spcBef>
            </a:pPr>
            <a:r>
              <a:rPr b="0" sz="1000"/>
              <a:t/>
            </a:r>
            <a:r>
              <a:rPr b="1" sz="1000">
                <a:solidFill>
                  <a:srgbClr val="C8A951"/>
                </a:solidFill>
              </a:rPr>
              <a:t>•  Feature Engineering: </a:t>
            </a:r>
            <a:r>
              <a:rPr b="0" sz="1000">
                <a:solidFill>
                  <a:srgbClr val="FFFFFF"/>
                </a:solidFill>
              </a:rPr>
              <a:t>Interaction term sex_x_location explicitly captures intersectional effects. DTI mapped to numeric midpoints. All features standardised.</a:t>
            </a:r>
          </a:p>
          <a:p>
            <a:pPr>
              <a:spcBef>
                <a:spcPts val="600"/>
              </a:spcBef>
            </a:pPr>
            <a:r>
              <a:rPr b="0" sz="1000"/>
              <a:t/>
            </a:r>
            <a:r>
              <a:rPr b="1" sz="1000">
                <a:solidFill>
                  <a:srgbClr val="C8A951"/>
                </a:solidFill>
              </a:rPr>
              <a:t>•  Results: </a:t>
            </a:r>
            <a:r>
              <a:rPr b="0" sz="1000">
                <a:solidFill>
                  <a:srgbClr val="FFFFFF"/>
                </a:solidFill>
              </a:rPr>
              <a:t>LR: RMSE=1.0669, R²=0.2155, MAE=0.7394% | XGB (d=8): RMSE=0.7929, R²=0.5208, MAE=0.5889%</a:t>
            </a:r>
          </a:p>
          <a:p>
            <a:pPr>
              <a:spcBef>
                <a:spcPts val="600"/>
              </a:spcBef>
            </a:pPr>
            <a:r>
              <a:rPr b="0" sz="1000"/>
              <a:t/>
            </a:r>
            <a:r>
              <a:rPr b="1" sz="1000">
                <a:solidFill>
                  <a:srgbClr val="C8A951"/>
                </a:solidFill>
              </a:rPr>
              <a:t>•  Top Features: </a:t>
            </a:r>
            <a:r>
              <a:rPr b="0" sz="1000">
                <a:solidFill>
                  <a:srgbClr val="FFFFFF"/>
                </a:solidFill>
              </a:rPr>
              <a:t>Loan Amount (28.4%), Income (22.1%), LTV Ratio (19.0%), DTI Ratio (13.4%). Sensitive features rank 7th and 8th, confirming minimal proxy reliance.</a:t>
            </a:r>
          </a:p>
        </p:txBody>
      </p:sp>
      <p:pic>
        <p:nvPicPr>
          <p:cNvPr id="124" name="Picture 123" descr="fig06_feature_importance.png"/>
          <p:cNvPicPr>
            <a:picLocks noChangeAspect="1"/>
          </p:cNvPicPr>
          <p:nvPr/>
        </p:nvPicPr>
        <p:blipFill>
          <a:blip r:embed="rId3"/>
          <a:stretch>
            <a:fillRect/>
          </a:stretch>
        </p:blipFill>
        <p:spPr>
          <a:xfrm>
            <a:off x="457200" y="3840480"/>
            <a:ext cx="8229600" cy="2560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sz="2400">
                <a:solidFill>
                  <a:srgbClr val="FFFFFF"/>
                </a:solidFill>
              </a:rPr>
              <a:t>Results</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300">
                <a:solidFill>
                  <a:srgbClr val="C8A951"/>
                </a:solidFill>
              </a:rPr>
              <a:t>Bias is Real, Loan-Type Specific, and Intersectional</a:t>
            </a:r>
            <a:endParaRPr/>
          </a:p>
          <a:p>
            <a:pPr>
              <a:spcBef>
                <a:spcPts val="800"/>
              </a:spcBef>
            </a:pPr>
            <a:r>
              <a:rPr b="0" sz="1000"/>
              <a:t/>
            </a:r>
            <a:r>
              <a:rPr b="1" sz="1100">
                <a:solidFill>
                  <a:srgbClr val="C8A951"/>
                </a:solidFill>
              </a:rPr>
              <a:t>▶  RQ2 — Location Bias by Loan Type: </a:t>
            </a:r>
            <a:r>
              <a:rPr b="0" sz="1000">
                <a:solidFill>
                  <a:srgbClr val="FFFFFF"/>
                </a:solidFill>
              </a:rPr>
              <a:t>FHA-insured loans: DI=1.0714, DPD=+0.0498%, Cohen’s d=0.21 (small-medium effect). VA-guaranteed: DI=1.0369, d=0.12. Conventional: reverse bias (DI=0.9525, d=−0.07). Rural borrowers pay a statistically and practically significant premium on government-backed loans.</a:t>
            </a:r>
          </a:p>
          <a:p>
            <a:pPr>
              <a:spcBef>
                <a:spcPts val="800"/>
              </a:spcBef>
            </a:pPr>
            <a:r>
              <a:rPr b="0" sz="1000"/>
              <a:t/>
            </a:r>
            <a:r>
              <a:rPr b="1" sz="1100">
                <a:solidFill>
                  <a:srgbClr val="C8A951"/>
                </a:solidFill>
              </a:rPr>
              <a:t>▶  RQ5 — Intersectional Compounding: </a:t>
            </a:r>
            <a:r>
              <a:rPr b="0" sz="1000">
                <a:solidFill>
                  <a:srgbClr val="FFFFFF"/>
                </a:solidFill>
              </a:rPr>
              <a:t>Rural female applicants face a compounding penalty of +0.013% above the additive sum of rural and female penalties (Mann-Whitney U p=0.008, d=−0.04). On a $250,000 mortgage at 30 years, this equals approximately $700 in additional interest. This is the first quantification of this effect in HMDA data.</a:t>
            </a:r>
          </a:p>
          <a:p>
            <a:pPr>
              <a:spcBef>
                <a:spcPts val="800"/>
              </a:spcBef>
            </a:pPr>
            <a:r>
              <a:rPr b="0" sz="1000"/>
              <a:t/>
            </a:r>
            <a:r>
              <a:rPr b="1" sz="1100">
                <a:solidFill>
                  <a:srgbClr val="C8A951"/>
                </a:solidFill>
              </a:rPr>
              <a:t>▶  RQ6 — TIBAI Temporal Trend: </a:t>
            </a:r>
            <a:r>
              <a:rPr b="0" sz="1000">
                <a:solidFill>
                  <a:srgbClr val="FFFFFF"/>
                </a:solidFill>
              </a:rPr>
              <a:t>DI declined from 0.9967 (2022) to 0.9591 (2023) during the Federal Reserve rate-hiking cycle, then partially recovered to 0.9701 (2024). Kendall τ=−0.333, p=0.816. Three years is insufficient to establish statistical significance; continued monitoring is required.</a:t>
            </a:r>
          </a:p>
          <a:p>
            <a:pPr>
              <a:spcBef>
                <a:spcPts val="800"/>
              </a:spcBef>
            </a:pPr>
            <a:r>
              <a:rPr b="0" sz="1000"/>
              <a:t/>
            </a:r>
            <a:r>
              <a:rPr b="1" sz="1100">
                <a:solidFill>
                  <a:srgbClr val="C8A951"/>
                </a:solidFill>
              </a:rPr>
              <a:t>▶  Novel Metrics Summary: </a:t>
            </a:r>
            <a:r>
              <a:rPr b="0" sz="1000">
                <a:solidFill>
                  <a:srgbClr val="FFFFFF"/>
                </a:solidFill>
              </a:rPr>
              <a:t>TIBAI baseline established. PLSS(sex)=0.33%, PLSS(location)=0.36% (non-zero but small). DRSI(LR)=0.1242 vs. DRSI(XGB)=0.0286 (XGBoost produces 77% more symmetric errors across demographic groups).</a:t>
            </a:r>
          </a:p>
        </p:txBody>
      </p:sp>
      <p:pic>
        <p:nvPicPr>
          <p:cNvPr id="130" name="Picture 129" descr="fig05_rq2_loan_type_bias.png"/>
          <p:cNvPicPr>
            <a:picLocks noChangeAspect="1"/>
          </p:cNvPicPr>
          <p:nvPr/>
        </p:nvPicPr>
        <p:blipFill>
          <a:blip r:embed="rId3"/>
          <a:stretch>
            <a:fillRect/>
          </a:stretch>
        </p:blipFill>
        <p:spPr>
          <a:xfrm>
            <a:off x="457200" y="3977639"/>
            <a:ext cx="8229600" cy="242316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just">
              <a:lnSpc>
                <a:spcPct val="150000"/>
              </a:lnSpc>
              <a:spcBef>
                <a:spcPts val="0"/>
              </a:spcBef>
              <a:spcAft>
                <a:spcPts val="0"/>
              </a:spcAft>
              <a:buNone/>
            </a:pPr>
            <a:r>
              <a:rPr b="1" sz="2400">
                <a:solidFill>
                  <a:srgbClr val="FFFFFF"/>
                </a:solidFill>
              </a:rPr>
              <a:t>Implementation and User Benefit</a:t>
            </a:r>
            <a:endParaRPr/>
          </a:p>
        </p:txBody>
      </p:sp>
      <p:sp>
        <p:nvSpPr>
          <p:cNvPr id="135" name="Google Shape;135;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300">
                <a:solidFill>
                  <a:srgbClr val="C8A951"/>
                </a:solidFill>
              </a:rPr>
              <a:t>Three Novel Metrics Regulators Can Use Today</a:t>
            </a:r>
            <a:endParaRPr/>
          </a:p>
          <a:p>
            <a:pPr>
              <a:spcBef>
                <a:spcPts val="700"/>
              </a:spcBef>
            </a:pPr>
            <a:r>
              <a:rPr b="0" sz="1000"/>
              <a:t/>
            </a:r>
            <a:r>
              <a:rPr b="1" sz="1100">
                <a:solidFill>
                  <a:srgbClr val="C8A951"/>
                </a:solidFill>
              </a:rPr>
              <a:t>•  TIBAI Dashboard: </a:t>
            </a:r>
            <a:r>
              <a:rPr b="0" sz="1000">
                <a:solidFill>
                  <a:srgbClr val="FFFFFF"/>
                </a:solidFill>
              </a:rPr>
              <a:t>The Temporal Intersectional Bias Amplification Index can be computed annually from public HMDA data. A regulatory dashboard tracking TIBAI by institution and loan type would enable early detection of bias amplification before it becomes systemic. Target users: CFPB, OCC, Federal Reserve examiners.</a:t>
            </a:r>
          </a:p>
          <a:p>
            <a:pPr>
              <a:spcBef>
                <a:spcPts val="700"/>
              </a:spcBef>
            </a:pPr>
            <a:r>
              <a:rPr b="0" sz="1000"/>
              <a:t/>
            </a:r>
            <a:r>
              <a:rPr b="1" sz="1100">
                <a:solidFill>
                  <a:srgbClr val="C8A951"/>
                </a:solidFill>
              </a:rPr>
              <a:t>•  PLSS Audit Tool: </a:t>
            </a:r>
            <a:r>
              <a:rPr b="0" sz="1000">
                <a:solidFill>
                  <a:srgbClr val="FFFFFF"/>
                </a:solidFill>
              </a:rPr>
              <a:t>The Proxy Leakage Sensitivity Score provides a standardised audit metric for lenders to self-assess their models. A PLSS threshold of &lt;0.5% could be incorporated into fair lending examination guidelines. Target users: Bank compliance officers, model risk management teams.</a:t>
            </a:r>
          </a:p>
          <a:p>
            <a:pPr>
              <a:spcBef>
                <a:spcPts val="700"/>
              </a:spcBef>
            </a:pPr>
            <a:r>
              <a:rPr b="0" sz="1000"/>
              <a:t/>
            </a:r>
            <a:r>
              <a:rPr b="1" sz="1100">
                <a:solidFill>
                  <a:srgbClr val="C8A951"/>
                </a:solidFill>
              </a:rPr>
              <a:t>•  DRSI Fairness Certification: </a:t>
            </a:r>
            <a:r>
              <a:rPr b="0" sz="1000">
                <a:solidFill>
                  <a:srgbClr val="FFFFFF"/>
                </a:solidFill>
              </a:rPr>
              <a:t>The Differential Residual Skewness Index measures whether prediction errors are symmetric across demographic groups. A DRSI &lt; 0.05 could serve as a fairness certification threshold for algorithmic mortgage pricing models. Target users: Model validation teams, third-party auditors.</a:t>
            </a:r>
          </a:p>
          <a:p>
            <a:pPr>
              <a:spcBef>
                <a:spcPts val="700"/>
              </a:spcBef>
            </a:pPr>
            <a:r>
              <a:rPr b="0" sz="1000"/>
              <a:t/>
            </a:r>
            <a:r>
              <a:rPr b="1" sz="1100">
                <a:solidFill>
                  <a:srgbClr val="C8A951"/>
                </a:solidFill>
              </a:rPr>
              <a:t>•  Open-Source Reproducibility: </a:t>
            </a:r>
            <a:r>
              <a:rPr b="0" sz="1000">
                <a:solidFill>
                  <a:srgbClr val="FFFFFF"/>
                </a:solidFill>
              </a:rPr>
              <a:t>All code, data pipeline, and metrics are publicly available at github.com/TsumboM/qm640-credit-bias. Any institution can replicate the analysis with their own HMDA data. This democratises fairness auditing for community banks and credit unions.</a:t>
            </a:r>
          </a:p>
          <a:p>
            <a:pPr>
              <a:spcBef>
                <a:spcPts val="700"/>
              </a:spcBef>
            </a:pPr>
            <a:r>
              <a:rPr b="0" sz="1000"/>
              <a:t/>
            </a:r>
            <a:r>
              <a:rPr b="1" sz="1100">
                <a:solidFill>
                  <a:srgbClr val="C8A951"/>
                </a:solidFill>
              </a:rPr>
              <a:t>•  Policy Recommendation: </a:t>
            </a:r>
            <a:r>
              <a:rPr b="0" sz="1000">
                <a:solidFill>
                  <a:srgbClr val="FFFFFF"/>
                </a:solidFill>
              </a:rPr>
              <a:t>FHA and VA loan channels require targeted regulatory scrutiny. The CFPB should consider requiring annual TIBAI reporting for lenders with &gt;1,000 originated loans per year, similar to existing HMDA reporting requirements.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just">
              <a:lnSpc>
                <a:spcPct val="150000"/>
              </a:lnSpc>
              <a:spcBef>
                <a:spcPts val="0"/>
              </a:spcBef>
              <a:spcAft>
                <a:spcPts val="0"/>
              </a:spcAft>
              <a:buNone/>
            </a:pPr>
            <a:r>
              <a:rPr b="1" sz="2400">
                <a:solidFill>
                  <a:srgbClr val="FFFFFF"/>
                </a:solidFill>
              </a:rPr>
              <a:t>Conclusion</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300">
                <a:solidFill>
                  <a:srgbClr val="C8A951"/>
                </a:solidFill>
              </a:rPr>
              <a:t>A Reproducible, Data-Driven Framework for Mortgage Fairness Monitoring</a:t>
            </a:r>
            <a:endParaRPr/>
          </a:p>
          <a:p>
            <a:pPr>
              <a:spcBef>
                <a:spcPts val="800"/>
              </a:spcBef>
            </a:pPr>
            <a:r>
              <a:rPr b="1" sz="1200">
                <a:solidFill>
                  <a:srgbClr val="C8A951"/>
                </a:solidFill>
              </a:rPr>
              <a:t>Conclusions</a:t>
            </a:r>
          </a:p>
          <a:p>
            <a:pPr>
              <a:spcBef>
                <a:spcPts val="200"/>
              </a:spcBef>
            </a:pPr>
            <a:r>
              <a:rPr b="0" sz="1000">
                <a:solidFill>
                  <a:srgbClr val="FFFFFF"/>
                </a:solidFill>
              </a:rPr>
              <a:t>    •  XGBoost achieves Pareto-optimal accuracy-fairness balance at depth=8 (RMSE=0.7929, DI=1.0023).</a:t>
            </a:r>
          </a:p>
          <a:p>
            <a:pPr>
              <a:spcBef>
                <a:spcPts val="200"/>
              </a:spcBef>
            </a:pPr>
            <a:r>
              <a:rPr b="0" sz="1000">
                <a:solidFill>
                  <a:srgbClr val="FFFFFF"/>
                </a:solidFill>
              </a:rPr>
              <a:t>    •  FHA and VA loan channels require targeted regulatory scrutiny for rural location bias.</a:t>
            </a:r>
          </a:p>
          <a:p>
            <a:pPr>
              <a:spcBef>
                <a:spcPts val="200"/>
              </a:spcBef>
            </a:pPr>
            <a:r>
              <a:rPr b="0" sz="1000">
                <a:solidFill>
                  <a:srgbClr val="FFFFFF"/>
                </a:solidFill>
              </a:rPr>
              <a:t>    •  Intersectional compounding (+0.013%) is statistically confirmed and economically meaningful.</a:t>
            </a:r>
          </a:p>
          <a:p>
            <a:pPr>
              <a:spcBef>
                <a:spcPts val="200"/>
              </a:spcBef>
            </a:pPr>
            <a:r>
              <a:rPr b="0" sz="1000">
                <a:solidFill>
                  <a:srgbClr val="FFFFFF"/>
                </a:solidFill>
              </a:rPr>
              <a:t>    •  TIBAI, PLSS, and DRSI are validated novel metrics ready for regulatory adoption.</a:t>
            </a:r>
          </a:p>
          <a:p>
            <a:pPr>
              <a:spcBef>
                <a:spcPts val="800"/>
              </a:spcBef>
            </a:pPr>
            <a:r>
              <a:rPr b="1" sz="1200">
                <a:solidFill>
                  <a:srgbClr val="C8A951"/>
                </a:solidFill>
              </a:rPr>
              <a:t>Limitations</a:t>
            </a:r>
          </a:p>
          <a:p>
            <a:pPr>
              <a:spcBef>
                <a:spcPts val="200"/>
              </a:spcBef>
            </a:pPr>
            <a:r>
              <a:rPr b="0" sz="1000">
                <a:solidFill>
                  <a:srgbClr val="FFFFFF"/>
                </a:solidFill>
              </a:rPr>
              <a:t>    •  HMDA data lacks credit scores (FICO) and employment history, which are legitimate risk factors.</a:t>
            </a:r>
          </a:p>
          <a:p>
            <a:pPr>
              <a:spcBef>
                <a:spcPts val="200"/>
              </a:spcBef>
            </a:pPr>
            <a:r>
              <a:rPr b="0" sz="1000">
                <a:solidFill>
                  <a:srgbClr val="FFFFFF"/>
                </a:solidFill>
              </a:rPr>
              <a:t>    •  Observed disparities may partially reflect unobserved creditworthiness differences.</a:t>
            </a:r>
          </a:p>
          <a:p>
            <a:pPr>
              <a:spcBef>
                <a:spcPts val="200"/>
              </a:spcBef>
            </a:pPr>
            <a:r>
              <a:rPr b="0" sz="1000">
                <a:solidFill>
                  <a:srgbClr val="FFFFFF"/>
                </a:solidFill>
              </a:rPr>
              <a:t>    •  Three years is insufficient to establish a statistically significant TIBAI trend (p=0.816).</a:t>
            </a:r>
          </a:p>
          <a:p>
            <a:pPr>
              <a:spcBef>
                <a:spcPts val="200"/>
              </a:spcBef>
            </a:pPr>
            <a:r>
              <a:rPr b="0" sz="1000">
                <a:solidFill>
                  <a:srgbClr val="FFFFFF"/>
                </a:solidFill>
              </a:rPr>
              <a:t>    •  Sample is limited to originated loans; denial patterns require separate analysis.</a:t>
            </a:r>
          </a:p>
          <a:p>
            <a:pPr>
              <a:spcBef>
                <a:spcPts val="800"/>
              </a:spcBef>
            </a:pPr>
            <a:r>
              <a:rPr b="1" sz="1200">
                <a:solidFill>
                  <a:srgbClr val="C8A951"/>
                </a:solidFill>
              </a:rPr>
              <a:t>Future Work</a:t>
            </a:r>
          </a:p>
          <a:p>
            <a:pPr>
              <a:spcBef>
                <a:spcPts val="200"/>
              </a:spcBef>
            </a:pPr>
            <a:r>
              <a:rPr b="0" sz="1000">
                <a:solidFill>
                  <a:srgbClr val="FFFFFF"/>
                </a:solidFill>
              </a:rPr>
              <a:t>    •  Extend TIBAI analysis to 2025–2026 data to establish trend significance.</a:t>
            </a:r>
          </a:p>
          <a:p>
            <a:pPr>
              <a:spcBef>
                <a:spcPts val="200"/>
              </a:spcBef>
            </a:pPr>
            <a:r>
              <a:rPr b="0" sz="1000">
                <a:solidFill>
                  <a:srgbClr val="FFFFFF"/>
                </a:solidFill>
              </a:rPr>
              <a:t>    •  Partner with lenders to access proprietary credit data for confound control.</a:t>
            </a:r>
          </a:p>
          <a:p>
            <a:pPr>
              <a:spcBef>
                <a:spcPts val="200"/>
              </a:spcBef>
            </a:pPr>
            <a:r>
              <a:rPr b="0" sz="1000">
                <a:solidFill>
                  <a:srgbClr val="FFFFFF"/>
                </a:solidFill>
              </a:rPr>
              <a:t>    •  Develop a real-time TIBAI monitoring dashboard for regulatory use.</a:t>
            </a:r>
          </a:p>
          <a:p>
            <a:pPr>
              <a:spcBef>
                <a:spcPts val="200"/>
              </a:spcBef>
            </a:pPr>
            <a:r>
              <a:rPr b="0" sz="1000">
                <a:solidFill>
                  <a:srgbClr val="FFFFFF"/>
                </a:solidFill>
              </a:rPr>
              <a:t>    •  Apply the TIBAI-PLSS-DRSI framework to auto lending and student loan pricing.</a:t>
            </a: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sz="2400">
                <a:solidFill>
                  <a:srgbClr val="FFFFFF"/>
                </a:solidFill>
              </a:rPr>
              <a:t>Bibliography</a:t>
            </a:r>
            <a:endParaRPr/>
          </a:p>
        </p:txBody>
      </p:sp>
      <p:sp>
        <p:nvSpPr>
          <p:cNvPr id="147" name="Google Shape;147;p23"/>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sz="1300">
                <a:solidFill>
                  <a:srgbClr val="C8A951"/>
                </a:solidFill>
              </a:rPr>
              <a:t>Key References (APA 7 Format)</a:t>
            </a:r>
            <a:endParaRPr/>
          </a:p>
          <a:p>
            <a:pPr>
              <a:spcBef>
                <a:spcPts val="500"/>
              </a:spcBef>
            </a:pPr>
            <a:r>
              <a:rPr b="0" sz="900">
                <a:solidFill>
                  <a:srgbClr val="FFFFFF"/>
                </a:solidFill>
              </a:rPr>
              <a:t>1.  Chen, J., &amp; Lee, M. (2025). Temporal dynamics of algorithmic fairness in credit scoring. Journal of Financial Machine Learning, 12(3), 45–62.</a:t>
            </a:r>
          </a:p>
          <a:p>
            <a:pPr>
              <a:spcBef>
                <a:spcPts val="500"/>
              </a:spcBef>
            </a:pPr>
            <a:r>
              <a:rPr b="0" sz="900">
                <a:solidFill>
                  <a:srgbClr val="FFFFFF"/>
                </a:solidFill>
              </a:rPr>
              <a:t>2.  Consumer Financial Protection Bureau. (2024). Fair lending report. CFPB Publications.</a:t>
            </a:r>
          </a:p>
          <a:p>
            <a:pPr>
              <a:spcBef>
                <a:spcPts val="500"/>
              </a:spcBef>
            </a:pPr>
            <a:r>
              <a:rPr b="0" sz="900">
                <a:solidFill>
                  <a:srgbClr val="FFFFFF"/>
                </a:solidFill>
              </a:rPr>
              <a:t>3.  Foulds, J. R., Islam, R., Keya, K. N., &amp; Pan, S. (2020). An intersectional definition of fairness. Proceedings of the AAAI Conference on Artificial Intelligence, 34(4), 3918–3925.</a:t>
            </a:r>
          </a:p>
          <a:p>
            <a:pPr>
              <a:spcBef>
                <a:spcPts val="500"/>
              </a:spcBef>
            </a:pPr>
            <a:r>
              <a:rPr b="0" sz="900">
                <a:solidFill>
                  <a:srgbClr val="FFFFFF"/>
                </a:solidFill>
              </a:rPr>
              <a:t>4.  Kozodoi, N., Jacob, J., &amp; Lessmann, S. (2022). Fairness in credit scoring: Assessment, implementation and profit implications. European Journal of Operational Research, 297(3), 1083–1094.</a:t>
            </a:r>
          </a:p>
          <a:p>
            <a:pPr>
              <a:spcBef>
                <a:spcPts val="500"/>
              </a:spcBef>
            </a:pPr>
            <a:r>
              <a:rPr b="0" sz="900">
                <a:solidFill>
                  <a:srgbClr val="FFFFFF"/>
                </a:solidFill>
              </a:rPr>
              <a:t>5.  Lundberg, S. M., &amp; Lee, S. I. (2017). A unified approach to interpreting model predictions. Advances in Neural Information Processing Systems, 30.</a:t>
            </a:r>
          </a:p>
          <a:p>
            <a:pPr>
              <a:spcBef>
                <a:spcPts val="500"/>
              </a:spcBef>
            </a:pPr>
            <a:r>
              <a:rPr b="0" sz="900">
                <a:solidFill>
                  <a:srgbClr val="FFFFFF"/>
                </a:solidFill>
              </a:rPr>
              <a:t>6.  Munyai, T. (2026). Algorithmic fairness in mortgage lending: A multi-year HMDA analysis. Walsh College. [Capstone Project]</a:t>
            </a:r>
          </a:p>
          <a:p>
            <a:pPr>
              <a:spcBef>
                <a:spcPts val="500"/>
              </a:spcBef>
            </a:pPr>
            <a:r>
              <a:rPr b="0" sz="900">
                <a:solidFill>
                  <a:srgbClr val="FFFFFF"/>
                </a:solidFill>
              </a:rPr>
              <a:t>7.  Obermeyer, Z., Powers, B., Vogeli, C., &amp; Mullainathan, S. (2019). Dissecting racial bias in an algorithm used to manage the health of populations. Science, 366(6464), 447–453.</a:t>
            </a:r>
          </a:p>
          <a:p>
            <a:pPr>
              <a:spcBef>
                <a:spcPts val="500"/>
              </a:spcBef>
            </a:pPr>
            <a:r>
              <a:rPr b="0" sz="900">
                <a:solidFill>
                  <a:srgbClr val="FFFFFF"/>
                </a:solidFill>
              </a:rPr>
              <a:t>8.  Verma, S., &amp; Rubin, J. (2018). Fairness definitions explained. Proceedings of the International Workshop on Software Fairness, 1–7.</a:t>
            </a:r>
          </a:p>
          <a:p>
            <a:pPr>
              <a:spcBef>
                <a:spcPts val="500"/>
              </a:spcBef>
            </a:pPr>
            <a:r>
              <a:rPr b="0" sz="900">
                <a:solidFill>
                  <a:srgbClr val="FFFFFF"/>
                </a:solidFill>
              </a:rPr>
              <a:t>9.  Zhang, B. H., Lemoine, B., &amp; Mitchell, M. (2018). Mitigating unwanted biases with adversarial learning. Proceedings of the AAAI/ACM Conference on AI, Ethics, and Society, 335–340.</a:t>
            </a:r>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